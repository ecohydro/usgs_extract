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dcc4bbf47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dcc4bbf4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dcc4bbf47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dcc4bbf47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dcc4bbf47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dcc4bbf47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dcc4bbf47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dcc4bbf47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dcc4bbf47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dcc4bbf47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dcc4bbf47f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dcc4bbf47f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dcc4bbf47f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dcc4bbf47f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dcc4bbf47f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dcc4bbf47f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dcc4bbf47f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dcc4bbf47f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dcc4bbf47f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dcc4bbf47f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dcc4bbf47f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dcc4bbf47f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dcc4bbf47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dcc4bbf47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dcc4bbf47f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dcc4bbf47f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dce5ca07b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dce5ca07b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dce5ca07b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dce5ca07b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dce5ca07b2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dce5ca07b2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dce5ca07b2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dce5ca07b2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drive.google.com/drive/folders/1g6UKtOOBbYNxiExxSiP85bQUPYyK-bCj?usp=sharin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7.png"/><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Digitizing Well Data</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Instructional Walkthrough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Goal </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goal of this project is to digitize old data (from the early 1900s) on well information. </a:t>
            </a:r>
            <a:endParaRPr/>
          </a:p>
          <a:p>
            <a:pPr indent="0" lvl="0" marL="0" rtl="0" algn="l">
              <a:spcBef>
                <a:spcPts val="1200"/>
              </a:spcBef>
              <a:spcAft>
                <a:spcPts val="0"/>
              </a:spcAft>
              <a:buNone/>
            </a:pPr>
            <a:r>
              <a:rPr lang="en"/>
              <a:t>Very important to our work is discovering early wells that have depth and well water level measurements. This will allow us to compare early times (often before pumping of groundwater became extreme) to modern times (2010-present). Many old data exist but have not been digitized and therefore explored. </a:t>
            </a:r>
            <a:endParaRPr/>
          </a:p>
          <a:p>
            <a:pPr indent="0" lvl="0" marL="0" rtl="0" algn="l">
              <a:spcBef>
                <a:spcPts val="1200"/>
              </a:spcBef>
              <a:spcAft>
                <a:spcPts val="1200"/>
              </a:spcAft>
              <a:buNone/>
            </a:pPr>
            <a:r>
              <a:rPr lang="en"/>
              <a:t>This is very exciting work! </a:t>
            </a:r>
            <a:r>
              <a:rPr i="1" lang="en"/>
              <a:t>(And you will certainly be put in the </a:t>
            </a:r>
            <a:r>
              <a:rPr i="1" lang="en"/>
              <a:t>acknowledgements</a:t>
            </a:r>
            <a:r>
              <a:rPr i="1" lang="en"/>
              <a:t> section of whatever publication comes out this...hopefully!) </a:t>
            </a:r>
            <a:endParaRPr i="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File Locations </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Shared google drive folder </a:t>
            </a:r>
            <a:r>
              <a:rPr i="1" lang="en" u="sng">
                <a:solidFill>
                  <a:schemeClr val="hlink"/>
                </a:solidFill>
                <a:hlinkClick r:id="rId3"/>
              </a:rPr>
              <a:t>here</a:t>
            </a:r>
            <a:r>
              <a:rPr i="1" lang="en"/>
              <a:t> </a:t>
            </a:r>
            <a:endParaRPr i="1"/>
          </a:p>
          <a:p>
            <a:pPr indent="0" lvl="0" marL="0" rtl="0" algn="l">
              <a:spcBef>
                <a:spcPts val="1200"/>
              </a:spcBef>
              <a:spcAft>
                <a:spcPts val="0"/>
              </a:spcAft>
              <a:buNone/>
            </a:pPr>
            <a:r>
              <a:rPr i="1" lang="en" u="sng"/>
              <a:t>"Digitizing Well Data" </a:t>
            </a:r>
            <a:endParaRPr i="1" u="sng"/>
          </a:p>
          <a:p>
            <a:pPr indent="0" lvl="0" marL="0" rtl="0" algn="l">
              <a:spcBef>
                <a:spcPts val="1200"/>
              </a:spcBef>
              <a:spcAft>
                <a:spcPts val="0"/>
              </a:spcAft>
              <a:buNone/>
            </a:pPr>
            <a:r>
              <a:rPr i="1" lang="en"/>
              <a:t>	Subfolder: </a:t>
            </a:r>
            <a:r>
              <a:rPr i="1" lang="en" u="sng"/>
              <a:t>"Your Name" </a:t>
            </a:r>
            <a:endParaRPr i="1" u="sng"/>
          </a:p>
          <a:p>
            <a:pPr indent="0" lvl="0" marL="0" rtl="0" algn="l">
              <a:spcBef>
                <a:spcPts val="1200"/>
              </a:spcBef>
              <a:spcAft>
                <a:spcPts val="0"/>
              </a:spcAft>
              <a:buNone/>
            </a:pPr>
            <a:r>
              <a:rPr i="1" lang="en"/>
              <a:t>		Subfolder: </a:t>
            </a:r>
            <a:r>
              <a:rPr i="1" lang="en" u="sng"/>
              <a:t>"Data to be Digitized"</a:t>
            </a:r>
            <a:r>
              <a:rPr i="1" lang="en"/>
              <a:t> (contains Darton, 1905) </a:t>
            </a:r>
            <a:endParaRPr i="1"/>
          </a:p>
          <a:p>
            <a:pPr indent="0" lvl="0" marL="0" rtl="0" algn="l">
              <a:spcBef>
                <a:spcPts val="1200"/>
              </a:spcBef>
              <a:spcAft>
                <a:spcPts val="0"/>
              </a:spcAft>
              <a:buNone/>
            </a:pPr>
            <a:r>
              <a:rPr i="1" lang="en"/>
              <a:t>		Subfolder: </a:t>
            </a:r>
            <a:r>
              <a:rPr i="1" lang="en" u="sng"/>
              <a:t>"Digitized Data"</a:t>
            </a:r>
            <a:r>
              <a:rPr i="1" lang="en"/>
              <a:t> (contains google sheet of your work) </a:t>
            </a:r>
            <a:endParaRPr i="1"/>
          </a:p>
          <a:p>
            <a:pPr indent="0" lvl="0" marL="0" rtl="0" algn="l">
              <a:spcBef>
                <a:spcPts val="1200"/>
              </a:spcBef>
              <a:spcAft>
                <a:spcPts val="0"/>
              </a:spcAft>
              <a:buNone/>
            </a:pPr>
            <a:r>
              <a:t/>
            </a:r>
            <a:endParaRPr i="1"/>
          </a:p>
          <a:p>
            <a:pPr indent="0" lvl="0" marL="0" rtl="0" algn="l">
              <a:spcBef>
                <a:spcPts val="1200"/>
              </a:spcBef>
              <a:spcAft>
                <a:spcPts val="1200"/>
              </a:spcAft>
              <a:buNone/>
            </a:pPr>
            <a:r>
              <a:rPr i="1" lang="en"/>
              <a:t>	</a:t>
            </a:r>
            <a:endParaRPr i="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1. First-pass digitization </a:t>
            </a:r>
            <a:endParaRPr/>
          </a:p>
        </p:txBody>
      </p:sp>
      <p:sp>
        <p:nvSpPr>
          <p:cNvPr id="73" name="Google Shape;73;p16"/>
          <p:cNvSpPr txBox="1"/>
          <p:nvPr>
            <p:ph idx="1" type="body"/>
          </p:nvPr>
        </p:nvSpPr>
        <p:spPr>
          <a:xfrm>
            <a:off x="3813200" y="2004200"/>
            <a:ext cx="4985400" cy="508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i="1" lang="en"/>
              <a:t>Transcribe almost word-by-word </a:t>
            </a:r>
            <a:endParaRPr i="1"/>
          </a:p>
        </p:txBody>
      </p:sp>
      <p:pic>
        <p:nvPicPr>
          <p:cNvPr id="74" name="Google Shape;74;p16"/>
          <p:cNvPicPr preferRelativeResize="0"/>
          <p:nvPr/>
        </p:nvPicPr>
        <p:blipFill>
          <a:blip r:embed="rId3">
            <a:alphaModFix/>
          </a:blip>
          <a:stretch>
            <a:fillRect/>
          </a:stretch>
        </p:blipFill>
        <p:spPr>
          <a:xfrm>
            <a:off x="474175" y="1152475"/>
            <a:ext cx="2975225" cy="3679525"/>
          </a:xfrm>
          <a:prstGeom prst="rect">
            <a:avLst/>
          </a:prstGeom>
          <a:noFill/>
          <a:ln>
            <a:noFill/>
          </a:ln>
        </p:spPr>
      </p:pic>
      <p:sp>
        <p:nvSpPr>
          <p:cNvPr id="75" name="Google Shape;75;p16"/>
          <p:cNvSpPr txBox="1"/>
          <p:nvPr/>
        </p:nvSpPr>
        <p:spPr>
          <a:xfrm>
            <a:off x="3657700" y="1310863"/>
            <a:ext cx="1552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Go from this </a:t>
            </a:r>
            <a:endParaRPr/>
          </a:p>
        </p:txBody>
      </p:sp>
      <p:sp>
        <p:nvSpPr>
          <p:cNvPr id="76" name="Google Shape;76;p16"/>
          <p:cNvSpPr txBox="1"/>
          <p:nvPr/>
        </p:nvSpPr>
        <p:spPr>
          <a:xfrm>
            <a:off x="7514150" y="2488925"/>
            <a:ext cx="125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To this! </a:t>
            </a:r>
            <a:endParaRPr/>
          </a:p>
        </p:txBody>
      </p:sp>
      <p:cxnSp>
        <p:nvCxnSpPr>
          <p:cNvPr id="77" name="Google Shape;77;p16"/>
          <p:cNvCxnSpPr/>
          <p:nvPr/>
        </p:nvCxnSpPr>
        <p:spPr>
          <a:xfrm flipH="1">
            <a:off x="3490175" y="1726750"/>
            <a:ext cx="578700" cy="468300"/>
          </a:xfrm>
          <a:prstGeom prst="straightConnector1">
            <a:avLst/>
          </a:prstGeom>
          <a:noFill/>
          <a:ln cap="flat" cmpd="sng" w="9525">
            <a:solidFill>
              <a:schemeClr val="dk2"/>
            </a:solidFill>
            <a:prstDash val="solid"/>
            <a:round/>
            <a:headEnd len="med" w="med" type="none"/>
            <a:tailEnd len="med" w="med" type="triangle"/>
          </a:ln>
        </p:spPr>
      </p:cxnSp>
      <p:cxnSp>
        <p:nvCxnSpPr>
          <p:cNvPr id="78" name="Google Shape;78;p16"/>
          <p:cNvCxnSpPr/>
          <p:nvPr/>
        </p:nvCxnSpPr>
        <p:spPr>
          <a:xfrm flipH="1">
            <a:off x="7485775" y="2819750"/>
            <a:ext cx="275400" cy="404100"/>
          </a:xfrm>
          <a:prstGeom prst="straightConnector1">
            <a:avLst/>
          </a:prstGeom>
          <a:noFill/>
          <a:ln cap="flat" cmpd="sng" w="9525">
            <a:solidFill>
              <a:schemeClr val="dk2"/>
            </a:solidFill>
            <a:prstDash val="solid"/>
            <a:round/>
            <a:headEnd len="med" w="med" type="none"/>
            <a:tailEnd len="med" w="med" type="triangle"/>
          </a:ln>
        </p:spPr>
      </p:cxnSp>
      <p:pic>
        <p:nvPicPr>
          <p:cNvPr id="79" name="Google Shape;79;p16"/>
          <p:cNvPicPr preferRelativeResize="0"/>
          <p:nvPr/>
        </p:nvPicPr>
        <p:blipFill rotWithShape="1">
          <a:blip r:embed="rId4">
            <a:alphaModFix/>
          </a:blip>
          <a:srcRect b="0" l="0" r="31436" t="0"/>
          <a:stretch/>
        </p:blipFill>
        <p:spPr>
          <a:xfrm>
            <a:off x="2685950" y="3725725"/>
            <a:ext cx="6269425" cy="12949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2. Double-check work (twice)  </a:t>
            </a:r>
            <a:endParaRPr/>
          </a:p>
        </p:txBody>
      </p:sp>
      <p:sp>
        <p:nvSpPr>
          <p:cNvPr id="85" name="Google Shape;85;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After you have done the first pass of digitization, please check your work two separate times </a:t>
            </a:r>
            <a:endParaRPr/>
          </a:p>
          <a:p>
            <a:pPr indent="-342900" lvl="0" marL="457200" rtl="0" algn="l">
              <a:spcBef>
                <a:spcPts val="0"/>
              </a:spcBef>
              <a:spcAft>
                <a:spcPts val="0"/>
              </a:spcAft>
              <a:buSzPts val="1800"/>
              <a:buChar char="●"/>
            </a:pPr>
            <a:r>
              <a:rPr lang="en"/>
              <a:t>Up to you when to do this </a:t>
            </a:r>
            <a:endParaRPr/>
          </a:p>
          <a:p>
            <a:pPr indent="-317500" lvl="1" marL="914400" rtl="0" algn="l">
              <a:spcBef>
                <a:spcPts val="0"/>
              </a:spcBef>
              <a:spcAft>
                <a:spcPts val="0"/>
              </a:spcAft>
              <a:buSzPts val="1400"/>
              <a:buChar char="○"/>
            </a:pPr>
            <a:r>
              <a:rPr lang="en"/>
              <a:t>Immediately after finishing</a:t>
            </a:r>
            <a:endParaRPr/>
          </a:p>
          <a:p>
            <a:pPr indent="-317500" lvl="1" marL="914400" rtl="0" algn="l">
              <a:spcBef>
                <a:spcPts val="0"/>
              </a:spcBef>
              <a:spcAft>
                <a:spcPts val="0"/>
              </a:spcAft>
              <a:buSzPts val="1400"/>
              <a:buChar char="○"/>
            </a:pPr>
            <a:r>
              <a:rPr lang="en"/>
              <a:t>Wait a day, return to it </a:t>
            </a:r>
            <a:endParaRPr/>
          </a:p>
          <a:p>
            <a:pPr indent="-342900" lvl="0" marL="457200" rtl="0" algn="l">
              <a:spcBef>
                <a:spcPts val="0"/>
              </a:spcBef>
              <a:spcAft>
                <a:spcPts val="0"/>
              </a:spcAft>
              <a:buSzPts val="1800"/>
              <a:buChar char="●"/>
            </a:pPr>
            <a:r>
              <a:rPr lang="en"/>
              <a:t>Accuracy is vitally important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3. Send to Annette when each state is complete  </a:t>
            </a:r>
            <a:endParaRPr/>
          </a:p>
        </p:txBody>
      </p:sp>
      <p:sp>
        <p:nvSpPr>
          <p:cNvPr id="91" name="Google Shape;91;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Once you finish a full state, let me know and I will check the final work </a:t>
            </a:r>
            <a:endParaRPr/>
          </a:p>
          <a:p>
            <a:pPr indent="-342900" lvl="0" marL="457200" rtl="0" algn="l">
              <a:spcBef>
                <a:spcPts val="0"/>
              </a:spcBef>
              <a:spcAft>
                <a:spcPts val="0"/>
              </a:spcAft>
              <a:buSzPts val="1800"/>
              <a:buChar char="●"/>
            </a:pPr>
            <a:r>
              <a:rPr lang="en"/>
              <a:t>It is important that the data are as accurate as possible, two sets of eyes to catch any errors will help </a:t>
            </a:r>
            <a:endParaRPr/>
          </a:p>
          <a:p>
            <a:pPr indent="-342900" lvl="0" marL="457200" rtl="0" algn="l">
              <a:spcBef>
                <a:spcPts val="0"/>
              </a:spcBef>
              <a:spcAft>
                <a:spcPts val="0"/>
              </a:spcAft>
              <a:buSzPts val="1800"/>
              <a:buChar char="●"/>
            </a:pPr>
            <a:r>
              <a:rPr lang="en"/>
              <a:t>In the meantime, move onto a different state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Detailed how-tos </a:t>
            </a:r>
            <a:endParaRPr/>
          </a:p>
        </p:txBody>
      </p:sp>
      <p:sp>
        <p:nvSpPr>
          <p:cNvPr id="97" name="Google Shape;97;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Column by column instructions </a:t>
            </a:r>
            <a:endParaRPr/>
          </a:p>
          <a:p>
            <a:pPr indent="-342900" lvl="0" marL="457200" rtl="0" algn="l">
              <a:spcBef>
                <a:spcPts val="0"/>
              </a:spcBef>
              <a:spcAft>
                <a:spcPts val="0"/>
              </a:spcAft>
              <a:buSzPts val="1800"/>
              <a:buChar char="●"/>
            </a:pPr>
            <a:r>
              <a:rPr lang="en"/>
              <a:t>Other quirks...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Keep data as tidy as possible </a:t>
            </a:r>
            <a:endParaRPr/>
          </a:p>
        </p:txBody>
      </p:sp>
      <p:sp>
        <p:nvSpPr>
          <p:cNvPr id="103" name="Google Shape;103;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Eventually these data will go into R</a:t>
            </a:r>
            <a:endParaRPr/>
          </a:p>
          <a:p>
            <a:pPr indent="-342900" lvl="0" marL="457200" rtl="0" algn="l">
              <a:spcBef>
                <a:spcPts val="0"/>
              </a:spcBef>
              <a:spcAft>
                <a:spcPts val="0"/>
              </a:spcAft>
              <a:buSzPts val="1800"/>
              <a:buChar char="●"/>
            </a:pPr>
            <a:r>
              <a:rPr lang="en"/>
              <a:t>To keep data as tidy as possible, please use all lower case (even locations) </a:t>
            </a:r>
            <a:endParaRPr/>
          </a:p>
          <a:p>
            <a:pPr indent="-342900" lvl="0" marL="457200" rtl="0" algn="l">
              <a:spcBef>
                <a:spcPts val="0"/>
              </a:spcBef>
              <a:spcAft>
                <a:spcPts val="0"/>
              </a:spcAft>
              <a:buSzPts val="1800"/>
              <a:buChar char="●"/>
            </a:pPr>
            <a:r>
              <a:rPr lang="en"/>
              <a:t>Do not include characters (such as: ? ! or other) in text (if present, remove)</a:t>
            </a:r>
            <a:endParaRPr/>
          </a:p>
          <a:p>
            <a:pPr indent="-317500" lvl="1" marL="914400" rtl="0" algn="l">
              <a:spcBef>
                <a:spcPts val="0"/>
              </a:spcBef>
              <a:spcAft>
                <a:spcPts val="0"/>
              </a:spcAft>
              <a:buSzPts val="1400"/>
              <a:buChar char="○"/>
            </a:pPr>
            <a:r>
              <a:rPr lang="en"/>
              <a:t>Note: you will keep "-" negative &amp; positive signs, more info later </a:t>
            </a:r>
            <a:endParaRPr/>
          </a:p>
          <a:p>
            <a:pPr indent="0" lvl="0" marL="457200" rtl="0" algn="l">
              <a:spcBef>
                <a:spcPts val="1200"/>
              </a:spcBef>
              <a:spcAft>
                <a:spcPts val="0"/>
              </a:spcAft>
              <a:buNone/>
            </a:pPr>
            <a:r>
              <a:rPr lang="en"/>
              <a:t> </a:t>
            </a:r>
            <a:endParaRPr/>
          </a:p>
          <a:p>
            <a:pPr indent="-342900" lvl="0" marL="457200" rtl="0" algn="l">
              <a:spcBef>
                <a:spcPts val="1200"/>
              </a:spcBef>
              <a:spcAft>
                <a:spcPts val="0"/>
              </a:spcAft>
              <a:buSzPts val="1800"/>
              <a:buChar char="●"/>
            </a:pPr>
            <a:r>
              <a:rPr lang="en"/>
              <a:t>Replace any fractions with decimals (i.e. ½ in text becomes 0.5) </a:t>
            </a:r>
            <a:br>
              <a:rPr lang="en"/>
            </a:br>
            <a:br>
              <a:rPr lang="en"/>
            </a:br>
            <a:endParaRPr/>
          </a:p>
          <a:p>
            <a:pPr indent="-342900" lvl="0" marL="457200" rtl="0" algn="l">
              <a:spcBef>
                <a:spcPts val="0"/>
              </a:spcBef>
              <a:spcAft>
                <a:spcPts val="0"/>
              </a:spcAft>
              <a:buSzPts val="1800"/>
              <a:buChar char="●"/>
            </a:pPr>
            <a:r>
              <a:rPr lang="en"/>
              <a:t>Any blank columns become "NA" (will say more about NA later) </a:t>
            </a:r>
            <a:endParaRPr/>
          </a:p>
        </p:txBody>
      </p:sp>
      <p:pic>
        <p:nvPicPr>
          <p:cNvPr id="104" name="Google Shape;104;p20"/>
          <p:cNvPicPr preferRelativeResize="0"/>
          <p:nvPr/>
        </p:nvPicPr>
        <p:blipFill>
          <a:blip r:embed="rId3">
            <a:alphaModFix/>
          </a:blip>
          <a:stretch>
            <a:fillRect/>
          </a:stretch>
        </p:blipFill>
        <p:spPr>
          <a:xfrm>
            <a:off x="899825" y="2517825"/>
            <a:ext cx="2866275" cy="433125"/>
          </a:xfrm>
          <a:prstGeom prst="rect">
            <a:avLst/>
          </a:prstGeom>
          <a:noFill/>
          <a:ln>
            <a:noFill/>
          </a:ln>
        </p:spPr>
      </p:pic>
      <p:pic>
        <p:nvPicPr>
          <p:cNvPr id="105" name="Google Shape;105;p20"/>
          <p:cNvPicPr preferRelativeResize="0"/>
          <p:nvPr/>
        </p:nvPicPr>
        <p:blipFill>
          <a:blip r:embed="rId4">
            <a:alphaModFix/>
          </a:blip>
          <a:stretch>
            <a:fillRect/>
          </a:stretch>
        </p:blipFill>
        <p:spPr>
          <a:xfrm>
            <a:off x="967775" y="3381675"/>
            <a:ext cx="933909" cy="433125"/>
          </a:xfrm>
          <a:prstGeom prst="rect">
            <a:avLst/>
          </a:prstGeom>
          <a:noFill/>
          <a:ln>
            <a:noFill/>
          </a:ln>
        </p:spPr>
      </p:pic>
      <p:pic>
        <p:nvPicPr>
          <p:cNvPr id="106" name="Google Shape;106;p20"/>
          <p:cNvPicPr preferRelativeResize="0"/>
          <p:nvPr/>
        </p:nvPicPr>
        <p:blipFill>
          <a:blip r:embed="rId5">
            <a:alphaModFix/>
          </a:blip>
          <a:stretch>
            <a:fillRect/>
          </a:stretch>
        </p:blipFill>
        <p:spPr>
          <a:xfrm>
            <a:off x="7860750" y="3944075"/>
            <a:ext cx="971550" cy="990600"/>
          </a:xfrm>
          <a:prstGeom prst="rect">
            <a:avLst/>
          </a:prstGeom>
          <a:noFill/>
          <a:ln>
            <a:noFill/>
          </a:ln>
        </p:spPr>
      </p:pic>
      <p:sp>
        <p:nvSpPr>
          <p:cNvPr id="107" name="Google Shape;107;p20"/>
          <p:cNvSpPr/>
          <p:nvPr/>
        </p:nvSpPr>
        <p:spPr>
          <a:xfrm>
            <a:off x="2165871" y="2515374"/>
            <a:ext cx="582350" cy="274225"/>
          </a:xfrm>
          <a:custGeom>
            <a:rect b="b" l="l" r="r" t="t"/>
            <a:pathLst>
              <a:path extrusionOk="0" h="10969" w="23294">
                <a:moveTo>
                  <a:pt x="19909" y="1520"/>
                </a:moveTo>
                <a:cubicBezTo>
                  <a:pt x="13507" y="-615"/>
                  <a:pt x="-491" y="-1163"/>
                  <a:pt x="70" y="5562"/>
                </a:cubicBezTo>
                <a:cubicBezTo>
                  <a:pt x="702" y="13129"/>
                  <a:pt x="18636" y="12247"/>
                  <a:pt x="22848" y="5929"/>
                </a:cubicBezTo>
                <a:cubicBezTo>
                  <a:pt x="23922" y="4318"/>
                  <a:pt x="22848" y="1031"/>
                  <a:pt x="21011" y="418"/>
                </a:cubicBezTo>
                <a:cubicBezTo>
                  <a:pt x="19120" y="-213"/>
                  <a:pt x="17024" y="890"/>
                  <a:pt x="15133" y="1520"/>
                </a:cubicBezTo>
              </a:path>
            </a:pathLst>
          </a:custGeom>
          <a:noFill/>
          <a:ln cap="flat" cmpd="sng" w="9525">
            <a:solidFill>
              <a:schemeClr val="dk2"/>
            </a:solidFill>
            <a:prstDash val="solid"/>
            <a:round/>
            <a:headEnd len="med" w="med" type="none"/>
            <a:tailEnd len="med" w="med" type="none"/>
          </a:ln>
        </p:spPr>
      </p:sp>
      <p:sp>
        <p:nvSpPr>
          <p:cNvPr id="108" name="Google Shape;108;p20"/>
          <p:cNvSpPr/>
          <p:nvPr/>
        </p:nvSpPr>
        <p:spPr>
          <a:xfrm>
            <a:off x="2902400" y="2535983"/>
            <a:ext cx="2020675" cy="155900"/>
          </a:xfrm>
          <a:custGeom>
            <a:rect b="b" l="l" r="r" t="t"/>
            <a:pathLst>
              <a:path extrusionOk="0" h="6236" w="80827">
                <a:moveTo>
                  <a:pt x="0" y="2533"/>
                </a:moveTo>
                <a:cubicBezTo>
                  <a:pt x="18531" y="-1586"/>
                  <a:pt x="38018" y="342"/>
                  <a:pt x="56946" y="1798"/>
                </a:cubicBezTo>
                <a:cubicBezTo>
                  <a:pt x="64959" y="2415"/>
                  <a:pt x="73637" y="8695"/>
                  <a:pt x="80827" y="5105"/>
                </a:cubicBezTo>
              </a:path>
            </a:pathLst>
          </a:custGeom>
          <a:noFill/>
          <a:ln cap="flat" cmpd="sng" w="9525">
            <a:solidFill>
              <a:schemeClr val="dk2"/>
            </a:solidFill>
            <a:prstDash val="solid"/>
            <a:round/>
            <a:headEnd len="med" w="med" type="none"/>
            <a:tailEnd len="med" w="med" type="none"/>
          </a:ln>
        </p:spPr>
      </p:sp>
      <p:sp>
        <p:nvSpPr>
          <p:cNvPr id="109" name="Google Shape;109;p20"/>
          <p:cNvSpPr/>
          <p:nvPr/>
        </p:nvSpPr>
        <p:spPr>
          <a:xfrm>
            <a:off x="4898825" y="2551413"/>
            <a:ext cx="212250" cy="286675"/>
          </a:xfrm>
          <a:custGeom>
            <a:rect b="b" l="l" r="r" t="t"/>
            <a:pathLst>
              <a:path extrusionOk="0" h="11467" w="8490">
                <a:moveTo>
                  <a:pt x="1337" y="446"/>
                </a:moveTo>
                <a:cubicBezTo>
                  <a:pt x="-1337" y="-447"/>
                  <a:pt x="7634" y="2487"/>
                  <a:pt x="8317" y="5222"/>
                </a:cubicBezTo>
                <a:cubicBezTo>
                  <a:pt x="9009" y="7996"/>
                  <a:pt x="4997" y="10190"/>
                  <a:pt x="2439" y="11467"/>
                </a:cubicBezTo>
              </a:path>
            </a:pathLst>
          </a:custGeom>
          <a:noFill/>
          <a:ln cap="flat" cmpd="sng" w="9525">
            <a:solidFill>
              <a:schemeClr val="dk2"/>
            </a:solidFill>
            <a:prstDash val="solid"/>
            <a:round/>
            <a:headEnd len="med" w="med" type="none"/>
            <a:tailEnd len="med" w="med" type="none"/>
          </a:ln>
        </p:spPr>
      </p:sp>
      <p:sp>
        <p:nvSpPr>
          <p:cNvPr id="110" name="Google Shape;110;p20"/>
          <p:cNvSpPr txBox="1"/>
          <p:nvPr/>
        </p:nvSpPr>
        <p:spPr>
          <a:xfrm>
            <a:off x="5279275" y="2534300"/>
            <a:ext cx="93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Remove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Specifics: Number issues </a:t>
            </a:r>
            <a:endParaRPr/>
          </a:p>
        </p:txBody>
      </p:sp>
      <p:sp>
        <p:nvSpPr>
          <p:cNvPr id="116" name="Google Shape;11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All fractions must be replaced with decimal equivalent (example: 5 ½ </a:t>
            </a:r>
            <a:r>
              <a:rPr lang="en"/>
              <a:t>becomes</a:t>
            </a:r>
            <a:r>
              <a:rPr lang="en"/>
              <a:t> 5.5) </a:t>
            </a:r>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Specifics: NA </a:t>
            </a:r>
            <a:endParaRPr/>
          </a:p>
        </p:txBody>
      </p:sp>
      <p:sp>
        <p:nvSpPr>
          <p:cNvPr id="122" name="Google Shape;122;p22"/>
          <p:cNvSpPr txBox="1"/>
          <p:nvPr>
            <p:ph idx="1" type="body"/>
          </p:nvPr>
        </p:nvSpPr>
        <p:spPr>
          <a:xfrm>
            <a:off x="311700" y="1152475"/>
            <a:ext cx="33354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 is NA </a:t>
            </a:r>
            <a:endParaRPr/>
          </a:p>
        </p:txBody>
      </p:sp>
      <p:pic>
        <p:nvPicPr>
          <p:cNvPr id="123" name="Google Shape;123;p22"/>
          <p:cNvPicPr preferRelativeResize="0"/>
          <p:nvPr/>
        </p:nvPicPr>
        <p:blipFill>
          <a:blip r:embed="rId3">
            <a:alphaModFix/>
          </a:blip>
          <a:stretch>
            <a:fillRect/>
          </a:stretch>
        </p:blipFill>
        <p:spPr>
          <a:xfrm>
            <a:off x="3647072" y="368875"/>
            <a:ext cx="5185225" cy="3674825"/>
          </a:xfrm>
          <a:prstGeom prst="rect">
            <a:avLst/>
          </a:prstGeom>
          <a:noFill/>
          <a:ln>
            <a:noFill/>
          </a:ln>
        </p:spPr>
      </p:pic>
      <p:sp>
        <p:nvSpPr>
          <p:cNvPr id="124" name="Google Shape;124;p22"/>
          <p:cNvSpPr/>
          <p:nvPr/>
        </p:nvSpPr>
        <p:spPr>
          <a:xfrm>
            <a:off x="6714100" y="4289300"/>
            <a:ext cx="36750" cy="9200"/>
          </a:xfrm>
          <a:custGeom>
            <a:rect b="b" l="l" r="r" t="t"/>
            <a:pathLst>
              <a:path extrusionOk="0" h="368" w="1470">
                <a:moveTo>
                  <a:pt x="0" y="0"/>
                </a:moveTo>
                <a:cubicBezTo>
                  <a:pt x="735" y="184"/>
                  <a:pt x="735" y="184"/>
                  <a:pt x="1470" y="368"/>
                </a:cubicBezTo>
              </a:path>
            </a:pathLst>
          </a:custGeom>
          <a:noFill/>
          <a:ln cap="flat" cmpd="sng" w="9525">
            <a:solidFill>
              <a:schemeClr val="dk2"/>
            </a:solidFill>
            <a:prstDash val="solid"/>
            <a:round/>
            <a:headEnd len="med" w="med" type="none"/>
            <a:tailEnd len="med" w="med" type="none"/>
          </a:ln>
        </p:spPr>
      </p:sp>
      <p:sp>
        <p:nvSpPr>
          <p:cNvPr id="125" name="Google Shape;125;p22"/>
          <p:cNvSpPr/>
          <p:nvPr/>
        </p:nvSpPr>
        <p:spPr>
          <a:xfrm>
            <a:off x="6492042" y="1606364"/>
            <a:ext cx="930025" cy="710800"/>
          </a:xfrm>
          <a:custGeom>
            <a:rect b="b" l="l" r="r" t="t"/>
            <a:pathLst>
              <a:path extrusionOk="0" h="28432" w="37201">
                <a:moveTo>
                  <a:pt x="28721" y="4447"/>
                </a:moveTo>
                <a:cubicBezTo>
                  <a:pt x="23896" y="-1584"/>
                  <a:pt x="12003" y="-938"/>
                  <a:pt x="5576" y="3345"/>
                </a:cubicBezTo>
                <a:cubicBezTo>
                  <a:pt x="657" y="6623"/>
                  <a:pt x="-1599" y="15600"/>
                  <a:pt x="1534" y="20613"/>
                </a:cubicBezTo>
                <a:cubicBezTo>
                  <a:pt x="6896" y="29192"/>
                  <a:pt x="24142" y="31055"/>
                  <a:pt x="31661" y="24287"/>
                </a:cubicBezTo>
                <a:cubicBezTo>
                  <a:pt x="35576" y="20763"/>
                  <a:pt x="38616" y="14019"/>
                  <a:pt x="36437" y="9224"/>
                </a:cubicBezTo>
                <a:cubicBezTo>
                  <a:pt x="34465" y="4886"/>
                  <a:pt x="28343" y="2978"/>
                  <a:pt x="23578" y="2978"/>
                </a:cubicBezTo>
              </a:path>
            </a:pathLst>
          </a:custGeom>
          <a:noFill/>
          <a:ln cap="flat" cmpd="sng" w="9525">
            <a:solidFill>
              <a:schemeClr val="dk2"/>
            </a:solidFill>
            <a:prstDash val="solid"/>
            <a:round/>
            <a:headEnd len="med" w="med" type="none"/>
            <a:tailEnd len="med" w="med" type="none"/>
          </a:ln>
        </p:spPr>
      </p:sp>
      <p:sp>
        <p:nvSpPr>
          <p:cNvPr id="126" name="Google Shape;126;p22"/>
          <p:cNvSpPr/>
          <p:nvPr/>
        </p:nvSpPr>
        <p:spPr>
          <a:xfrm>
            <a:off x="1983925" y="971521"/>
            <a:ext cx="4739375" cy="663375"/>
          </a:xfrm>
          <a:custGeom>
            <a:rect b="b" l="l" r="r" t="t"/>
            <a:pathLst>
              <a:path extrusionOk="0" h="26535" w="189575">
                <a:moveTo>
                  <a:pt x="189575" y="26535"/>
                </a:moveTo>
                <a:cubicBezTo>
                  <a:pt x="184750" y="21710"/>
                  <a:pt x="177063" y="20945"/>
                  <a:pt x="170470" y="19187"/>
                </a:cubicBezTo>
                <a:cubicBezTo>
                  <a:pt x="160454" y="16516"/>
                  <a:pt x="150428" y="13873"/>
                  <a:pt x="140344" y="11472"/>
                </a:cubicBezTo>
                <a:cubicBezTo>
                  <a:pt x="105504" y="3176"/>
                  <a:pt x="69132" y="-2040"/>
                  <a:pt x="33433" y="817"/>
                </a:cubicBezTo>
                <a:cubicBezTo>
                  <a:pt x="25963" y="1415"/>
                  <a:pt x="18578" y="3111"/>
                  <a:pt x="11389" y="5226"/>
                </a:cubicBezTo>
                <a:cubicBezTo>
                  <a:pt x="7484" y="6375"/>
                  <a:pt x="4071" y="9635"/>
                  <a:pt x="0" y="9635"/>
                </a:cubicBezTo>
              </a:path>
            </a:pathLst>
          </a:custGeom>
          <a:noFill/>
          <a:ln cap="flat" cmpd="sng" w="9525">
            <a:solidFill>
              <a:schemeClr val="dk2"/>
            </a:solidFill>
            <a:prstDash val="solid"/>
            <a:round/>
            <a:headEnd len="med" w="med" type="none"/>
            <a:tailEnd len="med" w="med" type="none"/>
          </a:ln>
        </p:spPr>
      </p:sp>
      <p:sp>
        <p:nvSpPr>
          <p:cNvPr id="127" name="Google Shape;127;p22"/>
          <p:cNvSpPr/>
          <p:nvPr/>
        </p:nvSpPr>
        <p:spPr>
          <a:xfrm>
            <a:off x="1960519" y="1120550"/>
            <a:ext cx="161175" cy="160900"/>
          </a:xfrm>
          <a:custGeom>
            <a:rect b="b" l="l" r="r" t="t"/>
            <a:pathLst>
              <a:path extrusionOk="0" h="6436" w="6447">
                <a:moveTo>
                  <a:pt x="1303" y="0"/>
                </a:moveTo>
                <a:cubicBezTo>
                  <a:pt x="1188" y="1032"/>
                  <a:pt x="-201" y="5677"/>
                  <a:pt x="201" y="5878"/>
                </a:cubicBezTo>
                <a:cubicBezTo>
                  <a:pt x="2067" y="6810"/>
                  <a:pt x="4361" y="6246"/>
                  <a:pt x="6447" y="6246"/>
                </a:cubicBezTo>
              </a:path>
            </a:pathLst>
          </a:custGeom>
          <a:noFill/>
          <a:ln cap="flat" cmpd="sng" w="9525">
            <a:solidFill>
              <a:schemeClr val="dk2"/>
            </a:solidFill>
            <a:prstDash val="solid"/>
            <a:round/>
            <a:headEnd len="med" w="med" type="none"/>
            <a:tailEnd len="med" w="med" type="none"/>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Specifics: "Do"  </a:t>
            </a:r>
            <a:endParaRPr/>
          </a:p>
        </p:txBody>
      </p:sp>
      <p:sp>
        <p:nvSpPr>
          <p:cNvPr id="133" name="Google Shape;133;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"Do" means same as above </a:t>
            </a:r>
            <a:endParaRPr/>
          </a:p>
          <a:p>
            <a:pPr indent="-342900" lvl="0" marL="457200" rtl="0" algn="l">
              <a:spcBef>
                <a:spcPts val="0"/>
              </a:spcBef>
              <a:spcAft>
                <a:spcPts val="0"/>
              </a:spcAft>
              <a:buSzPts val="1800"/>
              <a:buChar char="●"/>
            </a:pPr>
            <a:r>
              <a:rPr lang="en"/>
              <a:t>Example: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Do not write "Do", please write the original phrase/word </a:t>
            </a:r>
            <a:endParaRPr/>
          </a:p>
          <a:p>
            <a:pPr indent="-317500" lvl="1" marL="914400" rtl="0" algn="l">
              <a:spcBef>
                <a:spcPts val="0"/>
              </a:spcBef>
              <a:spcAft>
                <a:spcPts val="0"/>
              </a:spcAft>
              <a:buSzPts val="1400"/>
              <a:buChar char="○"/>
            </a:pPr>
            <a:r>
              <a:rPr lang="en"/>
              <a:t>In this example, do not transcribe "Do" but replace with "union springs" </a:t>
            </a:r>
            <a:endParaRPr/>
          </a:p>
        </p:txBody>
      </p:sp>
      <p:pic>
        <p:nvPicPr>
          <p:cNvPr id="134" name="Google Shape;134;p23"/>
          <p:cNvPicPr preferRelativeResize="0"/>
          <p:nvPr/>
        </p:nvPicPr>
        <p:blipFill>
          <a:blip r:embed="rId3">
            <a:alphaModFix/>
          </a:blip>
          <a:stretch>
            <a:fillRect/>
          </a:stretch>
        </p:blipFill>
        <p:spPr>
          <a:xfrm>
            <a:off x="700498" y="2034923"/>
            <a:ext cx="2890950" cy="1121600"/>
          </a:xfrm>
          <a:prstGeom prst="rect">
            <a:avLst/>
          </a:prstGeom>
          <a:noFill/>
          <a:ln>
            <a:noFill/>
          </a:ln>
        </p:spPr>
      </p:pic>
      <p:sp>
        <p:nvSpPr>
          <p:cNvPr id="135" name="Google Shape;135;p23"/>
          <p:cNvSpPr txBox="1"/>
          <p:nvPr/>
        </p:nvSpPr>
        <p:spPr>
          <a:xfrm>
            <a:off x="5152975" y="1964675"/>
            <a:ext cx="30993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Union Springs </a:t>
            </a:r>
            <a:endParaRPr/>
          </a:p>
          <a:p>
            <a:pPr indent="0" lvl="0" marL="0" rtl="0" algn="l">
              <a:spcBef>
                <a:spcPts val="0"/>
              </a:spcBef>
              <a:spcAft>
                <a:spcPts val="0"/>
              </a:spcAft>
              <a:buNone/>
            </a:pPr>
            <a:r>
              <a:rPr lang="en"/>
              <a:t>Union Springs </a:t>
            </a:r>
            <a:endParaRPr/>
          </a:p>
          <a:p>
            <a:pPr indent="0" lvl="0" marL="0" rtl="0" algn="l">
              <a:spcBef>
                <a:spcPts val="0"/>
              </a:spcBef>
              <a:spcAft>
                <a:spcPts val="0"/>
              </a:spcAft>
              <a:buNone/>
            </a:pPr>
            <a:r>
              <a:rPr lang="en"/>
              <a:t>Union Springs </a:t>
            </a:r>
            <a:endParaRPr/>
          </a:p>
          <a:p>
            <a:pPr indent="0" lvl="0" marL="0" rtl="0" algn="l">
              <a:spcBef>
                <a:spcPts val="0"/>
              </a:spcBef>
              <a:spcAft>
                <a:spcPts val="0"/>
              </a:spcAft>
              <a:buNone/>
            </a:pPr>
            <a:r>
              <a:rPr lang="en"/>
              <a:t>Union Springs </a:t>
            </a:r>
            <a:endParaRPr/>
          </a:p>
          <a:p>
            <a:pPr indent="0" lvl="0" marL="0" rtl="0" algn="l">
              <a:spcBef>
                <a:spcPts val="0"/>
              </a:spcBef>
              <a:spcAft>
                <a:spcPts val="0"/>
              </a:spcAft>
              <a:buNone/>
            </a:pPr>
            <a:r>
              <a:rPr lang="en"/>
              <a:t>Union Springs </a:t>
            </a:r>
            <a:endParaRPr/>
          </a:p>
        </p:txBody>
      </p:sp>
      <p:sp>
        <p:nvSpPr>
          <p:cNvPr id="136" name="Google Shape;136;p23"/>
          <p:cNvSpPr/>
          <p:nvPr/>
        </p:nvSpPr>
        <p:spPr>
          <a:xfrm>
            <a:off x="3922700" y="2365925"/>
            <a:ext cx="989100" cy="596100"/>
          </a:xfrm>
          <a:prstGeom prst="mathEqual">
            <a:avLst>
              <a:gd fmla="val 23520" name="adj1"/>
              <a:gd fmla="val 11760" name="adj2"/>
            </a:avLst>
          </a:prstGeom>
          <a:solidFill>
            <a:srgbClr val="38761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Specifics: Positive (+) and negative (-) numbers</a:t>
            </a:r>
            <a:endParaRPr/>
          </a:p>
        </p:txBody>
      </p:sp>
      <p:sp>
        <p:nvSpPr>
          <p:cNvPr id="142" name="Google Shape;142;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Positive and negative numbers are very important, they indicate if a well is artesian or if the water level is below the land </a:t>
            </a:r>
            <a:r>
              <a:rPr lang="en"/>
              <a:t>surface</a:t>
            </a:r>
            <a:r>
              <a:rPr lang="en"/>
              <a:t> </a:t>
            </a:r>
            <a:endParaRPr/>
          </a:p>
          <a:p>
            <a:pPr indent="-317500" lvl="1" marL="914400" rtl="0" algn="l">
              <a:spcBef>
                <a:spcPts val="0"/>
              </a:spcBef>
              <a:spcAft>
                <a:spcPts val="0"/>
              </a:spcAft>
              <a:buSzPts val="1400"/>
              <a:buChar char="○"/>
            </a:pPr>
            <a:r>
              <a:rPr lang="en"/>
              <a:t>This is truly information we are after! So very important </a:t>
            </a:r>
            <a:endParaRPr/>
          </a:p>
          <a:p>
            <a:pPr indent="-342900" lvl="0" marL="457200" rtl="0" algn="l">
              <a:spcBef>
                <a:spcPts val="0"/>
              </a:spcBef>
              <a:spcAft>
                <a:spcPts val="0"/>
              </a:spcAft>
              <a:buSzPts val="1800"/>
              <a:buChar char="●"/>
            </a:pPr>
            <a:r>
              <a:rPr lang="en"/>
              <a:t>For column "height of water" </a:t>
            </a:r>
            <a:endParaRPr/>
          </a:p>
          <a:p>
            <a:pPr indent="-317500" lvl="1" marL="914400" rtl="0" algn="l">
              <a:spcBef>
                <a:spcPts val="0"/>
              </a:spcBef>
              <a:spcAft>
                <a:spcPts val="0"/>
              </a:spcAft>
              <a:buSzPts val="1400"/>
              <a:buChar char="○"/>
            </a:pPr>
            <a:r>
              <a:rPr lang="en"/>
              <a:t>Positive numbers can be left normally (+3 = 3) </a:t>
            </a:r>
            <a:endParaRPr/>
          </a:p>
          <a:p>
            <a:pPr indent="-317500" lvl="1" marL="914400" rtl="0" algn="l">
              <a:spcBef>
                <a:spcPts val="0"/>
              </a:spcBef>
              <a:spcAft>
                <a:spcPts val="0"/>
              </a:spcAft>
              <a:buSzPts val="1400"/>
              <a:buChar char="○"/>
            </a:pPr>
            <a:r>
              <a:rPr lang="en"/>
              <a:t>Negative numbers indicate with negative sign (-3 = -3) </a:t>
            </a:r>
            <a:endParaRPr/>
          </a:p>
          <a:p>
            <a:pPr indent="-342900" lvl="0" marL="457200" rtl="0" algn="l">
              <a:spcBef>
                <a:spcPts val="0"/>
              </a:spcBef>
              <a:spcAft>
                <a:spcPts val="0"/>
              </a:spcAft>
              <a:buSzPts val="1800"/>
              <a:buChar char="●"/>
            </a:pPr>
            <a:r>
              <a:rPr lang="en"/>
              <a:t>For other columns, see further instructions…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Columns </a:t>
            </a:r>
            <a:endParaRPr/>
          </a:p>
        </p:txBody>
      </p:sp>
      <p:pic>
        <p:nvPicPr>
          <p:cNvPr id="148" name="Google Shape;148;p25"/>
          <p:cNvPicPr preferRelativeResize="0"/>
          <p:nvPr/>
        </p:nvPicPr>
        <p:blipFill>
          <a:blip r:embed="rId3">
            <a:alphaModFix/>
          </a:blip>
          <a:stretch>
            <a:fillRect/>
          </a:stretch>
        </p:blipFill>
        <p:spPr>
          <a:xfrm>
            <a:off x="2164950" y="144400"/>
            <a:ext cx="6849199" cy="1786000"/>
          </a:xfrm>
          <a:prstGeom prst="rect">
            <a:avLst/>
          </a:prstGeom>
          <a:noFill/>
          <a:ln>
            <a:noFill/>
          </a:ln>
        </p:spPr>
      </p:pic>
      <p:sp>
        <p:nvSpPr>
          <p:cNvPr id="149" name="Google Shape;149;p25"/>
          <p:cNvSpPr txBox="1"/>
          <p:nvPr>
            <p:ph idx="1" type="body"/>
          </p:nvPr>
        </p:nvSpPr>
        <p:spPr>
          <a:xfrm>
            <a:off x="311700" y="1152475"/>
            <a:ext cx="2380800" cy="26448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SzPts val="1100"/>
              <a:buChar char="●"/>
            </a:pPr>
            <a:r>
              <a:rPr lang="en" sz="1100"/>
              <a:t>Add "id" column </a:t>
            </a:r>
            <a:endParaRPr sz="1100"/>
          </a:p>
          <a:p>
            <a:pPr indent="-298450" lvl="0" marL="457200" rtl="0" algn="l">
              <a:spcBef>
                <a:spcPts val="0"/>
              </a:spcBef>
              <a:spcAft>
                <a:spcPts val="0"/>
              </a:spcAft>
              <a:buSzPts val="1100"/>
              <a:buChar char="●"/>
            </a:pPr>
            <a:r>
              <a:rPr lang="en" sz="1100"/>
              <a:t>Add "state" column </a:t>
            </a:r>
            <a:endParaRPr sz="1100"/>
          </a:p>
          <a:p>
            <a:pPr indent="-298450" lvl="0" marL="457200" rtl="0" algn="l">
              <a:spcBef>
                <a:spcPts val="0"/>
              </a:spcBef>
              <a:spcAft>
                <a:spcPts val="0"/>
              </a:spcAft>
              <a:buSzPts val="1100"/>
              <a:buChar char="●"/>
            </a:pPr>
            <a:r>
              <a:rPr lang="en" sz="1100"/>
              <a:t>"Location" column becomes "county", "city", and "specific_location" columns </a:t>
            </a:r>
            <a:endParaRPr sz="1100"/>
          </a:p>
          <a:p>
            <a:pPr indent="-298450" lvl="0" marL="457200" rtl="0" algn="l">
              <a:spcBef>
                <a:spcPts val="0"/>
              </a:spcBef>
              <a:spcAft>
                <a:spcPts val="0"/>
              </a:spcAft>
              <a:buSzPts val="1100"/>
              <a:buChar char="●"/>
            </a:pPr>
            <a:r>
              <a:rPr lang="en" sz="1100"/>
              <a:t>"Depth" column expanded </a:t>
            </a:r>
            <a:endParaRPr sz="1100"/>
          </a:p>
          <a:p>
            <a:pPr indent="-298450" lvl="0" marL="457200" rtl="0" algn="l">
              <a:spcBef>
                <a:spcPts val="0"/>
              </a:spcBef>
              <a:spcAft>
                <a:spcPts val="0"/>
              </a:spcAft>
              <a:buSzPts val="1100"/>
              <a:buChar char="●"/>
            </a:pPr>
            <a:r>
              <a:rPr lang="en" sz="1100"/>
              <a:t>"Height of water" column expanded </a:t>
            </a:r>
            <a:endParaRPr sz="1100"/>
          </a:p>
          <a:p>
            <a:pPr indent="-298450" lvl="0" marL="457200" rtl="0" algn="l">
              <a:spcBef>
                <a:spcPts val="0"/>
              </a:spcBef>
              <a:spcAft>
                <a:spcPts val="0"/>
              </a:spcAft>
              <a:buSzPts val="1100"/>
              <a:buChar char="●"/>
            </a:pPr>
            <a:r>
              <a:rPr lang="en" sz="1100"/>
              <a:t>Add "page_no" </a:t>
            </a:r>
            <a:endParaRPr sz="1100"/>
          </a:p>
          <a:p>
            <a:pPr indent="-298450" lvl="0" marL="457200" rtl="0" algn="l">
              <a:spcBef>
                <a:spcPts val="0"/>
              </a:spcBef>
              <a:spcAft>
                <a:spcPts val="0"/>
              </a:spcAft>
              <a:buSzPts val="1100"/>
              <a:buChar char="●"/>
            </a:pPr>
            <a:r>
              <a:rPr lang="en" sz="1100"/>
              <a:t>Add "citation" </a:t>
            </a:r>
            <a:endParaRPr sz="1100"/>
          </a:p>
          <a:p>
            <a:pPr indent="-298450" lvl="0" marL="457200" rtl="0" algn="l">
              <a:spcBef>
                <a:spcPts val="0"/>
              </a:spcBef>
              <a:spcAft>
                <a:spcPts val="0"/>
              </a:spcAft>
              <a:buSzPts val="1100"/>
              <a:buChar char="●"/>
            </a:pPr>
            <a:r>
              <a:rPr lang="en" sz="1100"/>
              <a:t>All other columns are the same </a:t>
            </a:r>
            <a:endParaRPr sz="1100"/>
          </a:p>
        </p:txBody>
      </p:sp>
      <p:pic>
        <p:nvPicPr>
          <p:cNvPr id="150" name="Google Shape;150;p25"/>
          <p:cNvPicPr preferRelativeResize="0"/>
          <p:nvPr/>
        </p:nvPicPr>
        <p:blipFill rotWithShape="1">
          <a:blip r:embed="rId4">
            <a:alphaModFix/>
          </a:blip>
          <a:srcRect b="0" l="0" r="0" t="46095"/>
          <a:stretch/>
        </p:blipFill>
        <p:spPr>
          <a:xfrm>
            <a:off x="-24175" y="4092471"/>
            <a:ext cx="9144002" cy="698050"/>
          </a:xfrm>
          <a:prstGeom prst="rect">
            <a:avLst/>
          </a:prstGeom>
          <a:noFill/>
          <a:ln>
            <a:noFill/>
          </a:ln>
        </p:spPr>
      </p:pic>
      <p:cxnSp>
        <p:nvCxnSpPr>
          <p:cNvPr id="151" name="Google Shape;151;p25"/>
          <p:cNvCxnSpPr/>
          <p:nvPr/>
        </p:nvCxnSpPr>
        <p:spPr>
          <a:xfrm>
            <a:off x="5541025" y="2165675"/>
            <a:ext cx="6600" cy="17106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Specifics: Towns/cities with location instructions </a:t>
            </a:r>
            <a:endParaRPr/>
          </a:p>
        </p:txBody>
      </p:sp>
      <p:sp>
        <p:nvSpPr>
          <p:cNvPr id="157" name="Google Shape;157;p26"/>
          <p:cNvSpPr txBox="1"/>
          <p:nvPr>
            <p:ph idx="1" type="body"/>
          </p:nvPr>
        </p:nvSpPr>
        <p:spPr>
          <a:xfrm>
            <a:off x="311700" y="1152475"/>
            <a:ext cx="41439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For towns/cities that have specific locations added, extra column called "specific_location"</a:t>
            </a:r>
            <a:endParaRPr/>
          </a:p>
          <a:p>
            <a:pPr indent="-342900" lvl="0" marL="457200" rtl="0" algn="l">
              <a:spcBef>
                <a:spcPts val="0"/>
              </a:spcBef>
              <a:spcAft>
                <a:spcPts val="0"/>
              </a:spcAft>
              <a:buSzPts val="1800"/>
              <a:buChar char="●"/>
            </a:pPr>
            <a:r>
              <a:rPr lang="en"/>
              <a:t>If none, NA </a:t>
            </a:r>
            <a:endParaRPr/>
          </a:p>
        </p:txBody>
      </p:sp>
      <p:pic>
        <p:nvPicPr>
          <p:cNvPr id="158" name="Google Shape;158;p26"/>
          <p:cNvPicPr preferRelativeResize="0"/>
          <p:nvPr/>
        </p:nvPicPr>
        <p:blipFill>
          <a:blip r:embed="rId3">
            <a:alphaModFix/>
          </a:blip>
          <a:stretch>
            <a:fillRect/>
          </a:stretch>
        </p:blipFill>
        <p:spPr>
          <a:xfrm>
            <a:off x="2401250" y="3130588"/>
            <a:ext cx="6477000" cy="1438275"/>
          </a:xfrm>
          <a:prstGeom prst="rect">
            <a:avLst/>
          </a:prstGeom>
          <a:noFill/>
          <a:ln>
            <a:noFill/>
          </a:ln>
        </p:spPr>
      </p:pic>
      <p:pic>
        <p:nvPicPr>
          <p:cNvPr id="159" name="Google Shape;159;p26"/>
          <p:cNvPicPr preferRelativeResize="0"/>
          <p:nvPr/>
        </p:nvPicPr>
        <p:blipFill>
          <a:blip r:embed="rId4">
            <a:alphaModFix/>
          </a:blip>
          <a:stretch>
            <a:fillRect/>
          </a:stretch>
        </p:blipFill>
        <p:spPr>
          <a:xfrm>
            <a:off x="4571988" y="1152463"/>
            <a:ext cx="4219575" cy="16478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Columns: Well depths</a:t>
            </a:r>
            <a:endParaRPr/>
          </a:p>
        </p:txBody>
      </p:sp>
      <p:sp>
        <p:nvSpPr>
          <p:cNvPr id="165" name="Google Shape;165;p27"/>
          <p:cNvSpPr txBox="1"/>
          <p:nvPr>
            <p:ph idx="1" type="body"/>
          </p:nvPr>
        </p:nvSpPr>
        <p:spPr>
          <a:xfrm>
            <a:off x="311700" y="1152475"/>
            <a:ext cx="35859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"Depth" column becomes: </a:t>
            </a:r>
            <a:endParaRPr/>
          </a:p>
          <a:p>
            <a:pPr indent="-317500" lvl="1" marL="914400" rtl="0" algn="l">
              <a:spcBef>
                <a:spcPts val="0"/>
              </a:spcBef>
              <a:spcAft>
                <a:spcPts val="0"/>
              </a:spcAft>
              <a:buSzPts val="1400"/>
              <a:buChar char="○"/>
            </a:pPr>
            <a:r>
              <a:rPr lang="en"/>
              <a:t>min_depth_ft</a:t>
            </a:r>
            <a:endParaRPr/>
          </a:p>
          <a:p>
            <a:pPr indent="-317500" lvl="1" marL="914400" rtl="0" algn="l">
              <a:spcBef>
                <a:spcPts val="0"/>
              </a:spcBef>
              <a:spcAft>
                <a:spcPts val="0"/>
              </a:spcAft>
              <a:buSzPts val="1400"/>
              <a:buChar char="○"/>
            </a:pPr>
            <a:r>
              <a:rPr lang="en"/>
              <a:t>max_depth_ft</a:t>
            </a:r>
            <a:endParaRPr/>
          </a:p>
          <a:p>
            <a:pPr indent="-317500" lvl="1" marL="914400" rtl="0" algn="l">
              <a:spcBef>
                <a:spcPts val="0"/>
              </a:spcBef>
              <a:spcAft>
                <a:spcPts val="0"/>
              </a:spcAft>
              <a:buSzPts val="1400"/>
              <a:buChar char="○"/>
            </a:pPr>
            <a:r>
              <a:rPr lang="en"/>
              <a:t>Depth_sign</a:t>
            </a:r>
            <a:endParaRPr/>
          </a:p>
          <a:p>
            <a:pPr indent="-342900" lvl="0" marL="457200" rtl="0" algn="l">
              <a:spcBef>
                <a:spcPts val="0"/>
              </a:spcBef>
              <a:spcAft>
                <a:spcPts val="0"/>
              </a:spcAft>
              <a:buSzPts val="1800"/>
              <a:buChar char="●"/>
            </a:pPr>
            <a:r>
              <a:rPr lang="en"/>
              <a:t>If only one depth, put in "max_depth_ft" column</a:t>
            </a:r>
            <a:endParaRPr/>
          </a:p>
          <a:p>
            <a:pPr indent="-342900" lvl="0" marL="457200" rtl="0" algn="l">
              <a:spcBef>
                <a:spcPts val="0"/>
              </a:spcBef>
              <a:spcAft>
                <a:spcPts val="0"/>
              </a:spcAft>
              <a:buSzPts val="1800"/>
              <a:buChar char="●"/>
            </a:pPr>
            <a:r>
              <a:rPr lang="en"/>
              <a:t>If positive or negative sign, put in "depth_sign" column  </a:t>
            </a:r>
            <a:endParaRPr/>
          </a:p>
        </p:txBody>
      </p:sp>
      <p:pic>
        <p:nvPicPr>
          <p:cNvPr id="166" name="Google Shape;166;p27"/>
          <p:cNvPicPr preferRelativeResize="0"/>
          <p:nvPr/>
        </p:nvPicPr>
        <p:blipFill>
          <a:blip r:embed="rId3">
            <a:alphaModFix/>
          </a:blip>
          <a:stretch>
            <a:fillRect/>
          </a:stretch>
        </p:blipFill>
        <p:spPr>
          <a:xfrm>
            <a:off x="3830125" y="79725"/>
            <a:ext cx="1219200" cy="4895850"/>
          </a:xfrm>
          <a:prstGeom prst="rect">
            <a:avLst/>
          </a:prstGeom>
          <a:noFill/>
          <a:ln>
            <a:noFill/>
          </a:ln>
        </p:spPr>
      </p:pic>
      <p:pic>
        <p:nvPicPr>
          <p:cNvPr id="167" name="Google Shape;167;p27"/>
          <p:cNvPicPr preferRelativeResize="0"/>
          <p:nvPr/>
        </p:nvPicPr>
        <p:blipFill>
          <a:blip r:embed="rId4">
            <a:alphaModFix/>
          </a:blip>
          <a:stretch>
            <a:fillRect/>
          </a:stretch>
        </p:blipFill>
        <p:spPr>
          <a:xfrm>
            <a:off x="5140375" y="106129"/>
            <a:ext cx="3739100" cy="1250494"/>
          </a:xfrm>
          <a:prstGeom prst="rect">
            <a:avLst/>
          </a:prstGeom>
          <a:noFill/>
          <a:ln>
            <a:noFill/>
          </a:ln>
        </p:spPr>
      </p:pic>
      <p:cxnSp>
        <p:nvCxnSpPr>
          <p:cNvPr id="168" name="Google Shape;168;p27"/>
          <p:cNvCxnSpPr/>
          <p:nvPr/>
        </p:nvCxnSpPr>
        <p:spPr>
          <a:xfrm flipH="1" rot="10800000">
            <a:off x="4929125" y="820000"/>
            <a:ext cx="1904700" cy="176400"/>
          </a:xfrm>
          <a:prstGeom prst="straightConnector1">
            <a:avLst/>
          </a:prstGeom>
          <a:noFill/>
          <a:ln cap="flat" cmpd="sng" w="9525">
            <a:solidFill>
              <a:schemeClr val="dk2"/>
            </a:solidFill>
            <a:prstDash val="solid"/>
            <a:round/>
            <a:headEnd len="med" w="med" type="none"/>
            <a:tailEnd len="med" w="med" type="triangle"/>
          </a:ln>
        </p:spPr>
      </p:cxnSp>
      <p:cxnSp>
        <p:nvCxnSpPr>
          <p:cNvPr id="169" name="Google Shape;169;p27"/>
          <p:cNvCxnSpPr/>
          <p:nvPr/>
        </p:nvCxnSpPr>
        <p:spPr>
          <a:xfrm flipH="1" rot="10800000">
            <a:off x="4937925" y="1093475"/>
            <a:ext cx="2010600" cy="185100"/>
          </a:xfrm>
          <a:prstGeom prst="straightConnector1">
            <a:avLst/>
          </a:prstGeom>
          <a:noFill/>
          <a:ln cap="flat" cmpd="sng" w="9525">
            <a:solidFill>
              <a:schemeClr val="dk2"/>
            </a:solidFill>
            <a:prstDash val="solid"/>
            <a:round/>
            <a:headEnd len="med" w="med" type="none"/>
            <a:tailEnd len="med" w="med" type="triangle"/>
          </a:ln>
        </p:spPr>
      </p:cxnSp>
      <p:sp>
        <p:nvSpPr>
          <p:cNvPr id="170" name="Google Shape;170;p27"/>
          <p:cNvSpPr/>
          <p:nvPr/>
        </p:nvSpPr>
        <p:spPr>
          <a:xfrm>
            <a:off x="4179600" y="4267800"/>
            <a:ext cx="793500" cy="301200"/>
          </a:xfrm>
          <a:prstGeom prst="ellipse">
            <a:avLst/>
          </a:prstGeom>
          <a:no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1" name="Google Shape;171;p27"/>
          <p:cNvCxnSpPr/>
          <p:nvPr/>
        </p:nvCxnSpPr>
        <p:spPr>
          <a:xfrm>
            <a:off x="4558775" y="4480125"/>
            <a:ext cx="2645400" cy="378600"/>
          </a:xfrm>
          <a:prstGeom prst="straightConnector1">
            <a:avLst/>
          </a:prstGeom>
          <a:noFill/>
          <a:ln cap="flat" cmpd="sng" w="9525">
            <a:solidFill>
              <a:schemeClr val="dk2"/>
            </a:solidFill>
            <a:prstDash val="solid"/>
            <a:round/>
            <a:headEnd len="med" w="med" type="none"/>
            <a:tailEnd len="med" w="med" type="triangle"/>
          </a:ln>
        </p:spPr>
      </p:cxnSp>
      <p:sp>
        <p:nvSpPr>
          <p:cNvPr id="172" name="Google Shape;172;p27"/>
          <p:cNvSpPr txBox="1"/>
          <p:nvPr/>
        </p:nvSpPr>
        <p:spPr>
          <a:xfrm>
            <a:off x="7292175" y="4480125"/>
            <a:ext cx="1587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400 = min_depth_ft </a:t>
            </a:r>
            <a:endParaRPr/>
          </a:p>
        </p:txBody>
      </p:sp>
      <p:cxnSp>
        <p:nvCxnSpPr>
          <p:cNvPr id="173" name="Google Shape;173;p27"/>
          <p:cNvCxnSpPr>
            <a:stCxn id="170" idx="7"/>
          </p:cNvCxnSpPr>
          <p:nvPr/>
        </p:nvCxnSpPr>
        <p:spPr>
          <a:xfrm flipH="1" rot="10800000">
            <a:off x="4856895" y="3677110"/>
            <a:ext cx="1968000" cy="634800"/>
          </a:xfrm>
          <a:prstGeom prst="straightConnector1">
            <a:avLst/>
          </a:prstGeom>
          <a:noFill/>
          <a:ln cap="flat" cmpd="sng" w="9525">
            <a:solidFill>
              <a:schemeClr val="dk2"/>
            </a:solidFill>
            <a:prstDash val="solid"/>
            <a:round/>
            <a:headEnd len="med" w="med" type="none"/>
            <a:tailEnd len="med" w="med" type="triangle"/>
          </a:ln>
        </p:spPr>
      </p:cxnSp>
      <p:sp>
        <p:nvSpPr>
          <p:cNvPr id="174" name="Google Shape;174;p27"/>
          <p:cNvSpPr txBox="1"/>
          <p:nvPr/>
        </p:nvSpPr>
        <p:spPr>
          <a:xfrm>
            <a:off x="6948525" y="3368400"/>
            <a:ext cx="1393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550 = max_depth_ft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Columns: Diameter &amp; Yield per minute </a:t>
            </a:r>
            <a:endParaRPr/>
          </a:p>
        </p:txBody>
      </p:sp>
      <p:sp>
        <p:nvSpPr>
          <p:cNvPr id="180" name="Google Shape;180;p28"/>
          <p:cNvSpPr txBox="1"/>
          <p:nvPr>
            <p:ph idx="1" type="body"/>
          </p:nvPr>
        </p:nvSpPr>
        <p:spPr>
          <a:xfrm>
            <a:off x="311700" y="1152475"/>
            <a:ext cx="23424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Write as is </a:t>
            </a:r>
            <a:endParaRPr/>
          </a:p>
          <a:p>
            <a:pPr indent="-342900" lvl="0" marL="457200" rtl="0" algn="l">
              <a:spcBef>
                <a:spcPts val="0"/>
              </a:spcBef>
              <a:spcAft>
                <a:spcPts val="0"/>
              </a:spcAft>
              <a:buSzPts val="1800"/>
              <a:buChar char="●"/>
            </a:pPr>
            <a:r>
              <a:rPr lang="en"/>
              <a:t>"6-4" = "6-4" </a:t>
            </a:r>
            <a:endParaRPr/>
          </a:p>
          <a:p>
            <a:pPr indent="-342900" lvl="0" marL="457200" rtl="0" algn="l">
              <a:spcBef>
                <a:spcPts val="0"/>
              </a:spcBef>
              <a:spcAft>
                <a:spcPts val="0"/>
              </a:spcAft>
              <a:buSzPts val="1800"/>
              <a:buChar char="●"/>
            </a:pPr>
            <a:r>
              <a:rPr lang="en"/>
              <a:t>5 ¾ = 5.75</a:t>
            </a:r>
            <a:endParaRPr/>
          </a:p>
          <a:p>
            <a:pPr indent="-342900" lvl="0" marL="457200" rtl="0" algn="l">
              <a:spcBef>
                <a:spcPts val="0"/>
              </a:spcBef>
              <a:spcAft>
                <a:spcPts val="0"/>
              </a:spcAft>
              <a:buSzPts val="1800"/>
              <a:buChar char="●"/>
            </a:pPr>
            <a:r>
              <a:rPr lang="en"/>
              <a:t>Any text, write as is "Many" = "many", etc.  </a:t>
            </a:r>
            <a:endParaRPr/>
          </a:p>
        </p:txBody>
      </p:sp>
      <p:pic>
        <p:nvPicPr>
          <p:cNvPr id="181" name="Google Shape;181;p28"/>
          <p:cNvPicPr preferRelativeResize="0"/>
          <p:nvPr/>
        </p:nvPicPr>
        <p:blipFill>
          <a:blip r:embed="rId3">
            <a:alphaModFix/>
          </a:blip>
          <a:stretch>
            <a:fillRect/>
          </a:stretch>
        </p:blipFill>
        <p:spPr>
          <a:xfrm>
            <a:off x="2720900" y="1344400"/>
            <a:ext cx="2014225" cy="1989350"/>
          </a:xfrm>
          <a:prstGeom prst="rect">
            <a:avLst/>
          </a:prstGeom>
          <a:noFill/>
          <a:ln>
            <a:noFill/>
          </a:ln>
        </p:spPr>
      </p:pic>
      <p:cxnSp>
        <p:nvCxnSpPr>
          <p:cNvPr id="182" name="Google Shape;182;p28"/>
          <p:cNvCxnSpPr/>
          <p:nvPr/>
        </p:nvCxnSpPr>
        <p:spPr>
          <a:xfrm>
            <a:off x="4867400" y="2777600"/>
            <a:ext cx="493800" cy="0"/>
          </a:xfrm>
          <a:prstGeom prst="straightConnector1">
            <a:avLst/>
          </a:prstGeom>
          <a:noFill/>
          <a:ln cap="flat" cmpd="sng" w="9525">
            <a:solidFill>
              <a:schemeClr val="dk2"/>
            </a:solidFill>
            <a:prstDash val="solid"/>
            <a:round/>
            <a:headEnd len="med" w="med" type="none"/>
            <a:tailEnd len="med" w="med" type="triangle"/>
          </a:ln>
        </p:spPr>
      </p:cxnSp>
      <p:pic>
        <p:nvPicPr>
          <p:cNvPr id="183" name="Google Shape;183;p28"/>
          <p:cNvPicPr preferRelativeResize="0"/>
          <p:nvPr/>
        </p:nvPicPr>
        <p:blipFill>
          <a:blip r:embed="rId4">
            <a:alphaModFix/>
          </a:blip>
          <a:stretch>
            <a:fillRect/>
          </a:stretch>
        </p:blipFill>
        <p:spPr>
          <a:xfrm>
            <a:off x="5766825" y="2213963"/>
            <a:ext cx="2982725" cy="1127275"/>
          </a:xfrm>
          <a:prstGeom prst="rect">
            <a:avLst/>
          </a:prstGeom>
          <a:noFill/>
          <a:ln>
            <a:noFill/>
          </a:ln>
        </p:spPr>
      </p:pic>
      <p:pic>
        <p:nvPicPr>
          <p:cNvPr id="184" name="Google Shape;184;p28"/>
          <p:cNvPicPr preferRelativeResize="0"/>
          <p:nvPr/>
        </p:nvPicPr>
        <p:blipFill>
          <a:blip r:embed="rId5">
            <a:alphaModFix/>
          </a:blip>
          <a:stretch>
            <a:fillRect/>
          </a:stretch>
        </p:blipFill>
        <p:spPr>
          <a:xfrm>
            <a:off x="2815300" y="3449932"/>
            <a:ext cx="1390750" cy="1480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Columns: Height of water </a:t>
            </a:r>
            <a:endParaRPr/>
          </a:p>
        </p:txBody>
      </p:sp>
      <p:sp>
        <p:nvSpPr>
          <p:cNvPr id="190" name="Google Shape;190;p29"/>
          <p:cNvSpPr txBox="1"/>
          <p:nvPr>
            <p:ph idx="1" type="body"/>
          </p:nvPr>
        </p:nvSpPr>
        <p:spPr>
          <a:xfrm>
            <a:off x="311700" y="1152475"/>
            <a:ext cx="37005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n"/>
              <a:t>"Height of water" column becomes: </a:t>
            </a:r>
            <a:endParaRPr/>
          </a:p>
          <a:p>
            <a:pPr indent="-310832" lvl="1" marL="914400" rtl="0" algn="l">
              <a:spcBef>
                <a:spcPts val="0"/>
              </a:spcBef>
              <a:spcAft>
                <a:spcPts val="0"/>
              </a:spcAft>
              <a:buSzPct val="100000"/>
              <a:buChar char="○"/>
            </a:pPr>
            <a:r>
              <a:rPr lang="en"/>
              <a:t>"min_height_water_ft" </a:t>
            </a:r>
            <a:endParaRPr/>
          </a:p>
          <a:p>
            <a:pPr indent="-310832" lvl="1" marL="914400" rtl="0" algn="l">
              <a:spcBef>
                <a:spcPts val="0"/>
              </a:spcBef>
              <a:spcAft>
                <a:spcPts val="0"/>
              </a:spcAft>
              <a:buSzPct val="100000"/>
              <a:buChar char="○"/>
            </a:pPr>
            <a:r>
              <a:rPr lang="en"/>
              <a:t>"max_height_water_ft"</a:t>
            </a:r>
            <a:endParaRPr/>
          </a:p>
          <a:p>
            <a:pPr indent="-310832" lvl="1" marL="914400" rtl="0" algn="l">
              <a:spcBef>
                <a:spcPts val="0"/>
              </a:spcBef>
              <a:spcAft>
                <a:spcPts val="0"/>
              </a:spcAft>
              <a:buSzPct val="100000"/>
              <a:buChar char="○"/>
            </a:pPr>
            <a:r>
              <a:rPr lang="en"/>
              <a:t>"</a:t>
            </a:r>
            <a:r>
              <a:rPr lang="en"/>
              <a:t>height_water_text"</a:t>
            </a:r>
            <a:r>
              <a:rPr lang="en"/>
              <a:t> </a:t>
            </a:r>
            <a:endParaRPr/>
          </a:p>
          <a:p>
            <a:pPr indent="-334327" lvl="0" marL="457200" rtl="0" algn="l">
              <a:spcBef>
                <a:spcPts val="0"/>
              </a:spcBef>
              <a:spcAft>
                <a:spcPts val="0"/>
              </a:spcAft>
              <a:buSzPct val="100000"/>
              <a:buChar char="●"/>
            </a:pPr>
            <a:r>
              <a:rPr lang="en"/>
              <a:t>If positive sign in front of number, can leave as is "+50" = "50" </a:t>
            </a:r>
            <a:endParaRPr/>
          </a:p>
          <a:p>
            <a:pPr indent="-334327" lvl="0" marL="457200" rtl="0" algn="l">
              <a:spcBef>
                <a:spcPts val="0"/>
              </a:spcBef>
              <a:spcAft>
                <a:spcPts val="0"/>
              </a:spcAft>
              <a:buSzPct val="100000"/>
              <a:buChar char="●"/>
            </a:pPr>
            <a:r>
              <a:rPr lang="en"/>
              <a:t>If negative sign in front of number, type negative sign "-50" = "-50" </a:t>
            </a:r>
            <a:endParaRPr/>
          </a:p>
          <a:p>
            <a:pPr indent="-334327" lvl="0" marL="457200" rtl="0" algn="l">
              <a:spcBef>
                <a:spcPts val="0"/>
              </a:spcBef>
              <a:spcAft>
                <a:spcPts val="0"/>
              </a:spcAft>
              <a:buSzPct val="100000"/>
              <a:buChar char="●"/>
            </a:pPr>
            <a:r>
              <a:rPr lang="en"/>
              <a:t>If text instead of number, or in addition to number, type in "height_water_text" column </a:t>
            </a:r>
            <a:endParaRPr/>
          </a:p>
        </p:txBody>
      </p:sp>
      <p:pic>
        <p:nvPicPr>
          <p:cNvPr id="191" name="Google Shape;191;p29"/>
          <p:cNvPicPr preferRelativeResize="0"/>
          <p:nvPr/>
        </p:nvPicPr>
        <p:blipFill>
          <a:blip r:embed="rId3">
            <a:alphaModFix/>
          </a:blip>
          <a:stretch>
            <a:fillRect/>
          </a:stretch>
        </p:blipFill>
        <p:spPr>
          <a:xfrm>
            <a:off x="4262600" y="314863"/>
            <a:ext cx="4533900" cy="1057275"/>
          </a:xfrm>
          <a:prstGeom prst="rect">
            <a:avLst/>
          </a:prstGeom>
          <a:noFill/>
          <a:ln>
            <a:noFill/>
          </a:ln>
        </p:spPr>
      </p:pic>
      <p:pic>
        <p:nvPicPr>
          <p:cNvPr id="192" name="Google Shape;192;p29"/>
          <p:cNvPicPr preferRelativeResize="0"/>
          <p:nvPr/>
        </p:nvPicPr>
        <p:blipFill>
          <a:blip r:embed="rId4">
            <a:alphaModFix/>
          </a:blip>
          <a:stretch>
            <a:fillRect/>
          </a:stretch>
        </p:blipFill>
        <p:spPr>
          <a:xfrm>
            <a:off x="4262588" y="1461100"/>
            <a:ext cx="962025" cy="1466850"/>
          </a:xfrm>
          <a:prstGeom prst="rect">
            <a:avLst/>
          </a:prstGeom>
          <a:noFill/>
          <a:ln>
            <a:noFill/>
          </a:ln>
        </p:spPr>
      </p:pic>
      <p:pic>
        <p:nvPicPr>
          <p:cNvPr id="193" name="Google Shape;193;p29"/>
          <p:cNvPicPr preferRelativeResize="0"/>
          <p:nvPr/>
        </p:nvPicPr>
        <p:blipFill>
          <a:blip r:embed="rId5">
            <a:alphaModFix/>
          </a:blip>
          <a:stretch>
            <a:fillRect/>
          </a:stretch>
        </p:blipFill>
        <p:spPr>
          <a:xfrm>
            <a:off x="4915125" y="3692025"/>
            <a:ext cx="990600" cy="1162050"/>
          </a:xfrm>
          <a:prstGeom prst="rect">
            <a:avLst/>
          </a:prstGeom>
          <a:noFill/>
          <a:ln>
            <a:noFill/>
          </a:ln>
        </p:spPr>
      </p:pic>
      <p:cxnSp>
        <p:nvCxnSpPr>
          <p:cNvPr id="194" name="Google Shape;194;p29"/>
          <p:cNvCxnSpPr/>
          <p:nvPr/>
        </p:nvCxnSpPr>
        <p:spPr>
          <a:xfrm flipH="1" rot="10800000">
            <a:off x="5405275" y="1534375"/>
            <a:ext cx="573300" cy="837600"/>
          </a:xfrm>
          <a:prstGeom prst="straightConnector1">
            <a:avLst/>
          </a:prstGeom>
          <a:noFill/>
          <a:ln cap="flat" cmpd="sng" w="9525">
            <a:solidFill>
              <a:schemeClr val="dk2"/>
            </a:solidFill>
            <a:prstDash val="solid"/>
            <a:round/>
            <a:headEnd len="med" w="med" type="none"/>
            <a:tailEnd len="med" w="med" type="triangle"/>
          </a:ln>
        </p:spPr>
      </p:cxnSp>
      <p:cxnSp>
        <p:nvCxnSpPr>
          <p:cNvPr id="195" name="Google Shape;195;p29"/>
          <p:cNvCxnSpPr/>
          <p:nvPr/>
        </p:nvCxnSpPr>
        <p:spPr>
          <a:xfrm>
            <a:off x="3641725" y="4144350"/>
            <a:ext cx="1128600" cy="185100"/>
          </a:xfrm>
          <a:prstGeom prst="straightConnector1">
            <a:avLst/>
          </a:prstGeom>
          <a:noFill/>
          <a:ln cap="flat" cmpd="sng" w="9525">
            <a:solidFill>
              <a:schemeClr val="dk2"/>
            </a:solidFill>
            <a:prstDash val="solid"/>
            <a:round/>
            <a:headEnd len="med" w="med" type="none"/>
            <a:tailEnd len="med" w="med" type="triangle"/>
          </a:ln>
        </p:spPr>
      </p:cxnSp>
      <p:sp>
        <p:nvSpPr>
          <p:cNvPr id="196" name="Google Shape;196;p29"/>
          <p:cNvSpPr/>
          <p:nvPr/>
        </p:nvSpPr>
        <p:spPr>
          <a:xfrm>
            <a:off x="5111925" y="4258975"/>
            <a:ext cx="793800" cy="3099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7" name="Google Shape;197;p29"/>
          <p:cNvCxnSpPr>
            <a:stCxn id="196" idx="6"/>
          </p:cNvCxnSpPr>
          <p:nvPr/>
        </p:nvCxnSpPr>
        <p:spPr>
          <a:xfrm flipH="1" rot="10800000">
            <a:off x="5905725" y="1401925"/>
            <a:ext cx="1774500" cy="30120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Columns: Remarks, Page Number, Citation </a:t>
            </a:r>
            <a:endParaRPr/>
          </a:p>
        </p:txBody>
      </p:sp>
      <p:sp>
        <p:nvSpPr>
          <p:cNvPr id="203" name="Google Shape;203;p30"/>
          <p:cNvSpPr txBox="1"/>
          <p:nvPr>
            <p:ph idx="1" type="body"/>
          </p:nvPr>
        </p:nvSpPr>
        <p:spPr>
          <a:xfrm>
            <a:off x="311700" y="1152475"/>
            <a:ext cx="4458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"Remarks" column write as is </a:t>
            </a:r>
            <a:endParaRPr/>
          </a:p>
          <a:p>
            <a:pPr indent="-342900" lvl="0" marL="457200" rtl="0" algn="l">
              <a:spcBef>
                <a:spcPts val="0"/>
              </a:spcBef>
              <a:spcAft>
                <a:spcPts val="0"/>
              </a:spcAft>
              <a:buSzPts val="1800"/>
              <a:buChar char="●"/>
            </a:pPr>
            <a:r>
              <a:rPr lang="en"/>
              <a:t>Added columns "page_no" and "citation" </a:t>
            </a:r>
            <a:endParaRPr/>
          </a:p>
          <a:p>
            <a:pPr indent="-317500" lvl="1" marL="914400" rtl="0" algn="l">
              <a:spcBef>
                <a:spcPts val="0"/>
              </a:spcBef>
              <a:spcAft>
                <a:spcPts val="0"/>
              </a:spcAft>
              <a:buSzPts val="1400"/>
              <a:buChar char="○"/>
            </a:pPr>
            <a:r>
              <a:rPr lang="en"/>
              <a:t>So we can keep track if we combine these data with other documents later </a:t>
            </a:r>
            <a:endParaRPr/>
          </a:p>
        </p:txBody>
      </p:sp>
      <p:pic>
        <p:nvPicPr>
          <p:cNvPr id="204" name="Google Shape;204;p30"/>
          <p:cNvPicPr preferRelativeResize="0"/>
          <p:nvPr/>
        </p:nvPicPr>
        <p:blipFill>
          <a:blip r:embed="rId3">
            <a:alphaModFix/>
          </a:blip>
          <a:stretch>
            <a:fillRect/>
          </a:stretch>
        </p:blipFill>
        <p:spPr>
          <a:xfrm>
            <a:off x="4668355" y="2669130"/>
            <a:ext cx="4109500" cy="18102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